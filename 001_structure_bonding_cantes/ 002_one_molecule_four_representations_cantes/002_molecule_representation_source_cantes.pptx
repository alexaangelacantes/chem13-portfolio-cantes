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0287000" cy="12852400"/>
  <p:notesSz cx="6858000" cy="9144000"/>
  <p:embeddedFontLst>
    <p:embeddedFont>
      <p:font typeface="Lora" charset="1" panose="00000500000000000000"/>
      <p:regular r:id="rId21"/>
    </p:embeddedFont>
    <p:embeddedFont>
      <p:font typeface="Lora Bold" charset="1" panose="00000800000000000000"/>
      <p:regular r:id="rId22"/>
    </p:embeddedFont>
    <p:embeddedFont>
      <p:font typeface="Arimo" charset="1" panose="020B06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jpe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C₃H₈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400"/>
                        </a:lnSpc>
                        <a:defRPr/>
                      </a:pPr>
                      <a:r>
                        <a:rPr lang="en-US" sz="60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CH₃CH₂CH₃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0" t="-52262" r="0" b="-5226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559952" y="8797344"/>
            <a:ext cx="3722599" cy="1340136"/>
          </a:xfrm>
          <a:custGeom>
            <a:avLst/>
            <a:gdLst/>
            <a:ahLst/>
            <a:cxnLst/>
            <a:rect r="r" b="b" t="t" l="l"/>
            <a:pathLst>
              <a:path h="1340136" w="3722599">
                <a:moveTo>
                  <a:pt x="0" y="0"/>
                </a:moveTo>
                <a:lnTo>
                  <a:pt x="3722599" y="0"/>
                </a:lnTo>
                <a:lnTo>
                  <a:pt x="3722599" y="1340136"/>
                </a:lnTo>
                <a:lnTo>
                  <a:pt x="0" y="1340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7625" y="276463"/>
            <a:ext cx="585174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PROPANE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01 - C₃H₈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C₂H₆O</a:t>
                      </a: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820"/>
                        </a:lnSpc>
                        <a:defRPr/>
                      </a:pPr>
                      <a:r>
                        <a:rPr lang="en-US" sz="63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CH₃CH₂OH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1580" t="-40518" r="0" b="-6723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516166" y="8917377"/>
            <a:ext cx="3873614" cy="1420325"/>
          </a:xfrm>
          <a:custGeom>
            <a:avLst/>
            <a:gdLst/>
            <a:ahLst/>
            <a:cxnLst/>
            <a:rect r="r" b="b" t="t" l="l"/>
            <a:pathLst>
              <a:path h="1420325" w="3873614">
                <a:moveTo>
                  <a:pt x="0" y="0"/>
                </a:moveTo>
                <a:lnTo>
                  <a:pt x="3873613" y="0"/>
                </a:lnTo>
                <a:lnTo>
                  <a:pt x="3873613" y="1420325"/>
                </a:lnTo>
                <a:lnTo>
                  <a:pt x="0" y="1420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7625" y="276463"/>
            <a:ext cx="585174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ETHANOL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02 - C₂H₆O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C₃H₆O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960"/>
                        </a:lnSpc>
                        <a:defRPr/>
                      </a:pPr>
                      <a:r>
                        <a:rPr lang="en-US" sz="64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CH₃COCH₃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61173" t="-58552" r="-136418" b="-7920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972803" y="8017089"/>
            <a:ext cx="2936877" cy="2858560"/>
          </a:xfrm>
          <a:custGeom>
            <a:avLst/>
            <a:gdLst/>
            <a:ahLst/>
            <a:cxnLst/>
            <a:rect r="r" b="b" t="t" l="l"/>
            <a:pathLst>
              <a:path h="2858560" w="2936877">
                <a:moveTo>
                  <a:pt x="0" y="0"/>
                </a:moveTo>
                <a:lnTo>
                  <a:pt x="2936877" y="0"/>
                </a:lnTo>
                <a:lnTo>
                  <a:pt x="2936877" y="2858560"/>
                </a:lnTo>
                <a:lnTo>
                  <a:pt x="0" y="2858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7625" y="276463"/>
            <a:ext cx="585174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ACETONE 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03 -  C₃H₆O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C₂H₄O₂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CH₃COOH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-365999">
              <a:off x="-39300" y="-51660"/>
              <a:ext cx="1093194" cy="897041"/>
            </a:xfrm>
            <a:custGeom>
              <a:avLst/>
              <a:gdLst/>
              <a:ahLst/>
              <a:cxnLst/>
              <a:rect r="r" b="b" t="t" l="l"/>
              <a:pathLst>
                <a:path h="897041" w="1093194">
                  <a:moveTo>
                    <a:pt x="84344" y="0"/>
                  </a:moveTo>
                  <a:lnTo>
                    <a:pt x="1093194" y="107815"/>
                  </a:lnTo>
                  <a:lnTo>
                    <a:pt x="1008850" y="897041"/>
                  </a:lnTo>
                  <a:lnTo>
                    <a:pt x="0" y="789226"/>
                  </a:lnTo>
                  <a:close/>
                </a:path>
              </a:pathLst>
            </a:custGeom>
            <a:blipFill>
              <a:blip r:embed="rId4"/>
              <a:stretch>
                <a:fillRect l="-24606" t="-60219" r="-184825" b="-75463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786054" y="7917244"/>
            <a:ext cx="3472246" cy="3047861"/>
          </a:xfrm>
          <a:custGeom>
            <a:avLst/>
            <a:gdLst/>
            <a:ahLst/>
            <a:cxnLst/>
            <a:rect r="r" b="b" t="t" l="l"/>
            <a:pathLst>
              <a:path h="3047861" w="3472246">
                <a:moveTo>
                  <a:pt x="0" y="0"/>
                </a:moveTo>
                <a:lnTo>
                  <a:pt x="3472246" y="0"/>
                </a:lnTo>
                <a:lnTo>
                  <a:pt x="3472246" y="3047860"/>
                </a:lnTo>
                <a:lnTo>
                  <a:pt x="0" y="3047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7625" y="276463"/>
            <a:ext cx="585174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ACETIC ACID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04 - C₂H₄O₂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C₄H₈O₂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880"/>
                        </a:lnSpc>
                        <a:defRPr/>
                      </a:pPr>
                      <a:r>
                        <a:rPr lang="en-US" sz="42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CH₃COOCH₂CH₃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5400000">
              <a:off x="110437" y="-110437"/>
              <a:ext cx="793720" cy="1014595"/>
            </a:xfrm>
            <a:custGeom>
              <a:avLst/>
              <a:gdLst/>
              <a:ahLst/>
              <a:cxnLst/>
              <a:rect r="r" b="b" t="t" l="l"/>
              <a:pathLst>
                <a:path h="1014595" w="793720">
                  <a:moveTo>
                    <a:pt x="0" y="1014594"/>
                  </a:moveTo>
                  <a:lnTo>
                    <a:pt x="0" y="0"/>
                  </a:lnTo>
                  <a:lnTo>
                    <a:pt x="793720" y="0"/>
                  </a:lnTo>
                  <a:lnTo>
                    <a:pt x="793720" y="1014594"/>
                  </a:lnTo>
                  <a:close/>
                </a:path>
              </a:pathLst>
            </a:custGeom>
            <a:blipFill>
              <a:blip r:embed="rId4"/>
              <a:stretch>
                <a:fillRect l="-39188" t="-96352" r="-50626" b="-4123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356054" y="8291190"/>
            <a:ext cx="4130395" cy="2265981"/>
          </a:xfrm>
          <a:custGeom>
            <a:avLst/>
            <a:gdLst/>
            <a:ahLst/>
            <a:cxnLst/>
            <a:rect r="r" b="b" t="t" l="l"/>
            <a:pathLst>
              <a:path h="2265981" w="4130395">
                <a:moveTo>
                  <a:pt x="0" y="0"/>
                </a:moveTo>
                <a:lnTo>
                  <a:pt x="4130395" y="0"/>
                </a:lnTo>
                <a:lnTo>
                  <a:pt x="4130395" y="2265980"/>
                </a:lnTo>
                <a:lnTo>
                  <a:pt x="0" y="2265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43478" y="238305"/>
            <a:ext cx="7400045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ETHYL ACETATE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05 - C₄H₈O₂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C₆H₁₂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(CH₂)₆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32900" t="-25219" r="-60818" b="-2954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348487" y="8197463"/>
            <a:ext cx="2145529" cy="2456066"/>
          </a:xfrm>
          <a:custGeom>
            <a:avLst/>
            <a:gdLst/>
            <a:ahLst/>
            <a:cxnLst/>
            <a:rect r="r" b="b" t="t" l="l"/>
            <a:pathLst>
              <a:path h="2456066" w="2145529">
                <a:moveTo>
                  <a:pt x="0" y="0"/>
                </a:moveTo>
                <a:lnTo>
                  <a:pt x="2145529" y="0"/>
                </a:lnTo>
                <a:lnTo>
                  <a:pt x="2145529" y="2456066"/>
                </a:lnTo>
                <a:lnTo>
                  <a:pt x="0" y="24560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57095" y="238305"/>
            <a:ext cx="694586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CYCLOHEXANE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06 - C₆H₁₂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C₆H₁₀O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(CH₂)₅CO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41622" t="-34672" r="-73983" b="-3758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485896" y="7993809"/>
            <a:ext cx="1739167" cy="3043541"/>
          </a:xfrm>
          <a:custGeom>
            <a:avLst/>
            <a:gdLst/>
            <a:ahLst/>
            <a:cxnLst/>
            <a:rect r="r" b="b" t="t" l="l"/>
            <a:pathLst>
              <a:path h="3043541" w="1739167">
                <a:moveTo>
                  <a:pt x="0" y="0"/>
                </a:moveTo>
                <a:lnTo>
                  <a:pt x="1739167" y="0"/>
                </a:lnTo>
                <a:lnTo>
                  <a:pt x="1739167" y="3043541"/>
                </a:lnTo>
                <a:lnTo>
                  <a:pt x="0" y="3043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76463"/>
            <a:ext cx="8134795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CYCLOHEXANONE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07 - C₆H₁₀O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C₈H₉NO₂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HOC₆H₄NHCOCH₃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8837" t="0" r="-24638" b="-6636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386896" y="7776245"/>
            <a:ext cx="1849067" cy="3531416"/>
          </a:xfrm>
          <a:custGeom>
            <a:avLst/>
            <a:gdLst/>
            <a:ahLst/>
            <a:cxnLst/>
            <a:rect r="r" b="b" t="t" l="l"/>
            <a:pathLst>
              <a:path h="3531416" w="1849067">
                <a:moveTo>
                  <a:pt x="0" y="0"/>
                </a:moveTo>
                <a:lnTo>
                  <a:pt x="1849068" y="0"/>
                </a:lnTo>
                <a:lnTo>
                  <a:pt x="1849068" y="3531415"/>
                </a:lnTo>
                <a:lnTo>
                  <a:pt x="0" y="353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00406" y="276463"/>
            <a:ext cx="786308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ACETAMINOPHEN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08 - C₈H₉NO₂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C₉H₈O₄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CH₃COOC₆H₄COOH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384000">
              <a:off x="-41076" y="-54075"/>
              <a:ext cx="1096747" cy="901869"/>
            </a:xfrm>
            <a:custGeom>
              <a:avLst/>
              <a:gdLst/>
              <a:ahLst/>
              <a:cxnLst/>
              <a:rect r="r" b="b" t="t" l="l"/>
              <a:pathLst>
                <a:path h="901869" w="1096747">
                  <a:moveTo>
                    <a:pt x="0" y="113096"/>
                  </a:moveTo>
                  <a:lnTo>
                    <a:pt x="1008272" y="0"/>
                  </a:lnTo>
                  <a:lnTo>
                    <a:pt x="1096747" y="788774"/>
                  </a:lnTo>
                  <a:lnTo>
                    <a:pt x="88475" y="901870"/>
                  </a:lnTo>
                  <a:close/>
                </a:path>
              </a:pathLst>
            </a:custGeom>
            <a:blipFill>
              <a:blip r:embed="rId4"/>
              <a:stretch>
                <a:fillRect l="-18907" t="-100" r="-21047" b="-627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688017" y="8025298"/>
            <a:ext cx="3570283" cy="2952720"/>
          </a:xfrm>
          <a:custGeom>
            <a:avLst/>
            <a:gdLst/>
            <a:ahLst/>
            <a:cxnLst/>
            <a:rect r="r" b="b" t="t" l="l"/>
            <a:pathLst>
              <a:path h="2952720" w="3570283">
                <a:moveTo>
                  <a:pt x="0" y="0"/>
                </a:moveTo>
                <a:lnTo>
                  <a:pt x="3570283" y="0"/>
                </a:lnTo>
                <a:lnTo>
                  <a:pt x="3570283" y="2952720"/>
                </a:lnTo>
                <a:lnTo>
                  <a:pt x="0" y="2952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7625" y="276463"/>
            <a:ext cx="585174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ASPIRIN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09 - C₉H₈O₄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C₈H₁₀N₄O₂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(CH₃N–C=O)₂C=C(N=CH–NCH₃)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18948" t="-3669" r="-12267" b="-116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851952" y="7941550"/>
            <a:ext cx="3138599" cy="3015170"/>
          </a:xfrm>
          <a:custGeom>
            <a:avLst/>
            <a:gdLst/>
            <a:ahLst/>
            <a:cxnLst/>
            <a:rect r="r" b="b" t="t" l="l"/>
            <a:pathLst>
              <a:path h="3015170" w="3138599">
                <a:moveTo>
                  <a:pt x="0" y="0"/>
                </a:moveTo>
                <a:lnTo>
                  <a:pt x="3138599" y="0"/>
                </a:lnTo>
                <a:lnTo>
                  <a:pt x="3138599" y="3015170"/>
                </a:lnTo>
                <a:lnTo>
                  <a:pt x="0" y="3015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7625" y="276463"/>
            <a:ext cx="585174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CAFFEINE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10 - C₈H₁₀N₄O₂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C₉H₁₇BrO₂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(CH₃)₃CCH₂CH₂OCH₂CH(Br)CHO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905999">
              <a:off x="-85868" y="-118451"/>
              <a:ext cx="1186331" cy="1030622"/>
            </a:xfrm>
            <a:custGeom>
              <a:avLst/>
              <a:gdLst/>
              <a:ahLst/>
              <a:cxnLst/>
              <a:rect r="r" b="b" t="t" l="l"/>
              <a:pathLst>
                <a:path h="1030622" w="1186331">
                  <a:moveTo>
                    <a:pt x="0" y="264307"/>
                  </a:moveTo>
                  <a:lnTo>
                    <a:pt x="979563" y="0"/>
                  </a:lnTo>
                  <a:lnTo>
                    <a:pt x="1186331" y="766315"/>
                  </a:lnTo>
                  <a:lnTo>
                    <a:pt x="206767" y="1030622"/>
                  </a:lnTo>
                  <a:close/>
                </a:path>
              </a:pathLst>
            </a:custGeom>
            <a:blipFill>
              <a:blip r:embed="rId4"/>
              <a:stretch>
                <a:fillRect l="-52043" t="-21644" r="-62457" b="-2588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224834" y="8550246"/>
            <a:ext cx="4517712" cy="2091859"/>
          </a:xfrm>
          <a:custGeom>
            <a:avLst/>
            <a:gdLst/>
            <a:ahLst/>
            <a:cxnLst/>
            <a:rect r="r" b="b" t="t" l="l"/>
            <a:pathLst>
              <a:path h="2091859" w="4517712">
                <a:moveTo>
                  <a:pt x="0" y="0"/>
                </a:moveTo>
                <a:lnTo>
                  <a:pt x="4517711" y="0"/>
                </a:lnTo>
                <a:lnTo>
                  <a:pt x="4517711" y="2091858"/>
                </a:lnTo>
                <a:lnTo>
                  <a:pt x="0" y="2091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4455" y="174862"/>
            <a:ext cx="9198091" cy="189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b="true" sz="3649" spc="109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2-BROMO-3-(3,3-DIMETHYLBUTOXY)PROPANAL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11 - PROBLEM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C₁₂H₂₂O₃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CH₃CH₂CH(C₂H₅)(CH₂)₄COCH₂COOH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26130" t="-14209" r="-16823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224834" y="8775182"/>
            <a:ext cx="4392836" cy="1591954"/>
          </a:xfrm>
          <a:custGeom>
            <a:avLst/>
            <a:gdLst/>
            <a:ahLst/>
            <a:cxnLst/>
            <a:rect r="r" b="b" t="t" l="l"/>
            <a:pathLst>
              <a:path h="1591954" w="4392836">
                <a:moveTo>
                  <a:pt x="0" y="0"/>
                </a:moveTo>
                <a:lnTo>
                  <a:pt x="4392836" y="0"/>
                </a:lnTo>
                <a:lnTo>
                  <a:pt x="4392836" y="1591954"/>
                </a:lnTo>
                <a:lnTo>
                  <a:pt x="0" y="15919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4455" y="437696"/>
            <a:ext cx="9198091" cy="135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9"/>
              </a:lnSpc>
            </a:pPr>
            <a:r>
              <a:rPr lang="en-US" b="true" sz="4249" spc="127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8-ETHYL-3-OXODECANOIC ACID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12 - PROBLEM 2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C₉H₈O₄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CH₃COOC₆H₄COOH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-444000">
              <a:off x="-46889" y="-62032"/>
              <a:ext cx="1108372" cy="917785"/>
            </a:xfrm>
            <a:custGeom>
              <a:avLst/>
              <a:gdLst/>
              <a:ahLst/>
              <a:cxnLst/>
              <a:rect r="r" b="b" t="t" l="l"/>
              <a:pathLst>
                <a:path h="917785" w="1108372">
                  <a:moveTo>
                    <a:pt x="102228" y="0"/>
                  </a:moveTo>
                  <a:lnTo>
                    <a:pt x="1108372" y="130675"/>
                  </a:lnTo>
                  <a:lnTo>
                    <a:pt x="1006145" y="917784"/>
                  </a:lnTo>
                  <a:lnTo>
                    <a:pt x="0" y="787109"/>
                  </a:lnTo>
                  <a:close/>
                </a:path>
              </a:pathLst>
            </a:custGeom>
            <a:blipFill>
              <a:blip r:embed="rId4"/>
              <a:stretch>
                <a:fillRect l="-7434" t="-21810" r="-65484" b="-870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30984" y="295513"/>
            <a:ext cx="9198091" cy="1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5649" spc="169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ACETYLSALICYLIC ACID</a:t>
            </a:r>
          </a:p>
          <a:p>
            <a:pPr algn="ctr">
              <a:lnSpc>
                <a:spcPts val="5389"/>
              </a:lnSpc>
            </a:pPr>
            <a:r>
              <a:rPr lang="en-US" sz="3849" spc="11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13 - PROBLEM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688017" y="8025298"/>
            <a:ext cx="3570283" cy="2952720"/>
          </a:xfrm>
          <a:custGeom>
            <a:avLst/>
            <a:gdLst/>
            <a:ahLst/>
            <a:cxnLst/>
            <a:rect r="r" b="b" t="t" l="l"/>
            <a:pathLst>
              <a:path h="2952720" w="3570283">
                <a:moveTo>
                  <a:pt x="0" y="0"/>
                </a:moveTo>
                <a:lnTo>
                  <a:pt x="3570283" y="0"/>
                </a:lnTo>
                <a:lnTo>
                  <a:pt x="3570283" y="2952720"/>
                </a:lnTo>
                <a:lnTo>
                  <a:pt x="0" y="2952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100"/>
                        </a:lnSpc>
                        <a:defRPr/>
                      </a:pPr>
                      <a:r>
                        <a:rPr lang="en-US" sz="65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C₁₀H₁₄N₂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C₅H₄N–C₄H₇NCH₃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111591"/>
            <a:ext cx="4392836" cy="3436528"/>
            <a:chOff x="0" y="0"/>
            <a:chExt cx="1014595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4595" cy="793720"/>
            </a:xfrm>
            <a:custGeom>
              <a:avLst/>
              <a:gdLst/>
              <a:ahLst/>
              <a:cxnLst/>
              <a:rect r="r" b="b" t="t" l="l"/>
              <a:pathLst>
                <a:path h="793720" w="1014595">
                  <a:moveTo>
                    <a:pt x="0" y="0"/>
                  </a:moveTo>
                  <a:lnTo>
                    <a:pt x="1014595" y="0"/>
                  </a:lnTo>
                  <a:lnTo>
                    <a:pt x="1014595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43355" t="-40110" r="-32018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704647" y="8137294"/>
            <a:ext cx="3433209" cy="2762352"/>
          </a:xfrm>
          <a:custGeom>
            <a:avLst/>
            <a:gdLst/>
            <a:ahLst/>
            <a:cxnLst/>
            <a:rect r="r" b="b" t="t" l="l"/>
            <a:pathLst>
              <a:path h="2762352" w="3433209">
                <a:moveTo>
                  <a:pt x="0" y="0"/>
                </a:moveTo>
                <a:lnTo>
                  <a:pt x="3433209" y="0"/>
                </a:lnTo>
                <a:lnTo>
                  <a:pt x="3433209" y="2762352"/>
                </a:lnTo>
                <a:lnTo>
                  <a:pt x="0" y="2762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17625" y="276463"/>
            <a:ext cx="5851749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NICOTINE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14 - PROBLEM 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8837" y="11772900"/>
            <a:ext cx="7294658" cy="65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ATOM COUNT VERIFIED             VALENCE CHECKED</a:t>
            </a:r>
          </a:p>
          <a:p>
            <a:pPr algn="ctr">
              <a:lnSpc>
                <a:spcPts val="2648"/>
              </a:lnSpc>
            </a:pPr>
            <a:r>
              <a:rPr lang="en-US" sz="1765" spc="3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BOND ODER CHECKED             SAME CONNECTIVITY CONFIRMED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662322" y="11808567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3019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8356" y="1212978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1" y="0"/>
                </a:lnTo>
                <a:lnTo>
                  <a:pt x="310481" y="310481"/>
                </a:lnTo>
                <a:lnTo>
                  <a:pt x="0" y="310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89173" y="11819309"/>
            <a:ext cx="310481" cy="310481"/>
          </a:xfrm>
          <a:custGeom>
            <a:avLst/>
            <a:gdLst/>
            <a:ahLst/>
            <a:cxnLst/>
            <a:rect r="r" b="b" t="t" l="l"/>
            <a:pathLst>
              <a:path h="310481" w="310481">
                <a:moveTo>
                  <a:pt x="0" y="0"/>
                </a:moveTo>
                <a:lnTo>
                  <a:pt x="310480" y="0"/>
                </a:lnTo>
                <a:lnTo>
                  <a:pt x="310480" y="310480"/>
                </a:lnTo>
                <a:lnTo>
                  <a:pt x="0" y="31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2305287" y="1183806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577115" y="12143260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851779" y="12145904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681082" y="11822038"/>
            <a:ext cx="278251" cy="2782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30984" y="2215696"/>
          <a:ext cx="9198091" cy="9091964"/>
        </p:xfrm>
        <a:graphic>
          <a:graphicData uri="http://schemas.openxmlformats.org/drawingml/2006/table">
            <a:tbl>
              <a:tblPr/>
              <a:tblGrid>
                <a:gridCol w="4632313"/>
                <a:gridCol w="4565778"/>
              </a:tblGrid>
              <a:tr h="802623">
                <a:tc>
                  <a:txBody>
                    <a:bodyPr anchor="t" rtlCol="false"/>
                    <a:lstStyle/>
                    <a:p>
                      <a:pPr algn="l" marL="388618" indent="-194309" lvl="1">
                        <a:lnSpc>
                          <a:spcPts val="2519"/>
                        </a:lnSpc>
                        <a:buAutoNum type="arabicPeriod" startAt="1"/>
                        <a:defRPr/>
                      </a:pPr>
                      <a:r>
                        <a:rPr lang="en-US" b="true" sz="1799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MOLECULAR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LEWIS 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6196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756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7560"/>
                        </a:lnSpc>
                      </a:pPr>
                      <a:r>
                        <a:rPr lang="en-US" sz="5400">
                          <a:solidFill>
                            <a:srgbClr val="0D0D0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C₁₆H₁₉N₃O₅S</a:t>
                      </a:r>
                    </a:p>
                    <a:p>
                      <a:pPr algn="ctr">
                        <a:lnSpc>
                          <a:spcPts val="756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939"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CONDENSED STRUCTURAL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388620" indent="-194310" lvl="1">
                        <a:lnSpc>
                          <a:spcPts val="2520"/>
                        </a:lnSpc>
                        <a:buAutoNum type="arabicPeriod" startAt="1"/>
                        <a:defRPr/>
                      </a:pPr>
                      <a:r>
                        <a:rPr lang="en-US" b="true" sz="1800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BOND-LINE FORMULA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35517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(HOC₆H₄)CH(NH₂)CONH · [C₄H₃NOS] · C(CH₃)₂COOH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224834" y="3406484"/>
            <a:ext cx="4392836" cy="2947166"/>
            <a:chOff x="0" y="0"/>
            <a:chExt cx="1183063" cy="793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3063" cy="793720"/>
            </a:xfrm>
            <a:custGeom>
              <a:avLst/>
              <a:gdLst/>
              <a:ahLst/>
              <a:cxnLst/>
              <a:rect r="r" b="b" t="t" l="l"/>
              <a:pathLst>
                <a:path h="793720" w="1183063">
                  <a:moveTo>
                    <a:pt x="0" y="0"/>
                  </a:moveTo>
                  <a:lnTo>
                    <a:pt x="1183063" y="0"/>
                  </a:lnTo>
                  <a:lnTo>
                    <a:pt x="1183063" y="793720"/>
                  </a:lnTo>
                  <a:lnTo>
                    <a:pt x="0" y="793720"/>
                  </a:lnTo>
                  <a:close/>
                </a:path>
              </a:pathLst>
            </a:custGeom>
            <a:blipFill>
              <a:blip r:embed="rId4"/>
              <a:stretch>
                <a:fillRect l="-1782" t="0" r="-5561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543116" y="7880488"/>
            <a:ext cx="3620379" cy="3303186"/>
          </a:xfrm>
          <a:custGeom>
            <a:avLst/>
            <a:gdLst/>
            <a:ahLst/>
            <a:cxnLst/>
            <a:rect r="r" b="b" t="t" l="l"/>
            <a:pathLst>
              <a:path h="3303186" w="3620379">
                <a:moveTo>
                  <a:pt x="0" y="0"/>
                </a:moveTo>
                <a:lnTo>
                  <a:pt x="3620379" y="0"/>
                </a:lnTo>
                <a:lnTo>
                  <a:pt x="3620379" y="3303186"/>
                </a:lnTo>
                <a:lnTo>
                  <a:pt x="0" y="33031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67159" y="238305"/>
            <a:ext cx="6352681" cy="178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9"/>
              </a:lnSpc>
            </a:pPr>
            <a:r>
              <a:rPr lang="en-US" b="true" sz="6549" spc="196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AMOXICILLIN</a:t>
            </a:r>
          </a:p>
          <a:p>
            <a:pPr algn="ctr">
              <a:lnSpc>
                <a:spcPts val="4900"/>
              </a:lnSpc>
            </a:pPr>
            <a:r>
              <a:rPr lang="en-US" sz="3500" spc="105">
                <a:solidFill>
                  <a:srgbClr val="111111"/>
                </a:solidFill>
                <a:latin typeface="Lora"/>
                <a:ea typeface="Lora"/>
                <a:cs typeface="Lora"/>
                <a:sym typeface="Lora"/>
              </a:rPr>
              <a:t>CARD 15 - PROBLEM 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63771" y="11379993"/>
            <a:ext cx="2522126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 spc="3">
                <a:solidFill>
                  <a:srgbClr val="111111"/>
                </a:solidFill>
                <a:latin typeface="Lora Bold"/>
                <a:ea typeface="Lora Bold"/>
                <a:cs typeface="Lora Bold"/>
                <a:sym typeface="Lora Bold"/>
              </a:rPr>
              <a:t>VERIFICATION STRIP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DAHXmhVfv48</dc:identifier>
  <dcterms:modified xsi:type="dcterms:W3CDTF">2011-08-01T06:04:30Z</dcterms:modified>
  <cp:revision>1</cp:revision>
  <dc:title>PORTFOLIO 2 CHEM 13 LECTURE</dc:title>
</cp:coreProperties>
</file>